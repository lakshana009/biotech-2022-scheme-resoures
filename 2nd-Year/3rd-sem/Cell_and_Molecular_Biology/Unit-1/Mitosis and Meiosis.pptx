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4" d="100"/>
          <a:sy n="54" d="100"/>
        </p:scale>
        <p:origin x="40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2122226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1742268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2895510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1817030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2B08A1-9F8B-452C-B103-3460F0D87FB8}" type="datetimeFigureOut">
              <a:rPr lang="en-IN" smtClean="0"/>
              <a:t>23-09-2024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2663737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12B08A1-9F8B-452C-B103-3460F0D87FB8}" type="datetimeFigureOut">
              <a:rPr lang="en-IN" smtClean="0"/>
              <a:t>23-09-2024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3560856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2B08A1-9F8B-452C-B103-3460F0D87FB8}" type="datetimeFigureOut">
              <a:rPr lang="en-IN" smtClean="0"/>
              <a:t>23-09-2024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4089591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3984783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979565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1885642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8E13DAD-ED34-4AFB-B0D7-C4A683622DD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99064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709363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E13DAD-ED34-4AFB-B0D7-C4A683622DD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710603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12B08A1-9F8B-452C-B103-3460F0D87FB8}" type="datetimeFigureOut">
              <a:rPr lang="en-IN" smtClean="0"/>
              <a:t>23-09-2024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1588165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3974225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2B08A1-9F8B-452C-B103-3460F0D87FB8}" type="datetimeFigureOut">
              <a:rPr lang="en-IN" smtClean="0"/>
              <a:t>23-09-2024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8E13DAD-ED34-4AFB-B0D7-C4A683622DD9}" type="slidenum">
              <a:rPr lang="en-IN" smtClean="0"/>
              <a:t>‹#›</a:t>
            </a:fld>
            <a:endParaRPr lang="en-IN"/>
          </a:p>
        </p:txBody>
      </p:sp>
    </p:spTree>
    <p:extLst>
      <p:ext uri="{BB962C8B-B14F-4D97-AF65-F5344CB8AC3E}">
        <p14:creationId xmlns:p14="http://schemas.microsoft.com/office/powerpoint/2010/main" val="2039776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6000">
              <a:schemeClr val="bg2">
                <a:tint val="90000"/>
                <a:satMod val="92000"/>
                <a:lumMod val="120000"/>
              </a:schemeClr>
            </a:gs>
            <a:gs pos="88000">
              <a:schemeClr val="bg2">
                <a:shade val="98000"/>
                <a:satMod val="120000"/>
                <a:lumMod val="98000"/>
              </a:schemeClr>
            </a:gs>
          </a:gsLst>
          <a:path path="circle">
            <a:fillToRect l="50000" t="50000" r="100000" b="100000"/>
          </a:path>
          <a:tileRect/>
        </a:gradFill>
        <a:effectLst/>
      </p:bgPr>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12B08A1-9F8B-452C-B103-3460F0D87FB8}" type="datetimeFigureOut">
              <a:rPr lang="en-IN" smtClean="0"/>
              <a:t>23-09-2024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8E13DAD-ED34-4AFB-B0D7-C4A683622DD9}" type="slidenum">
              <a:rPr lang="en-IN" smtClean="0"/>
              <a:t>‹#›</a:t>
            </a:fld>
            <a:endParaRPr lang="en-IN"/>
          </a:p>
        </p:txBody>
      </p:sp>
    </p:spTree>
    <p:extLst>
      <p:ext uri="{BB962C8B-B14F-4D97-AF65-F5344CB8AC3E}">
        <p14:creationId xmlns:p14="http://schemas.microsoft.com/office/powerpoint/2010/main" val="37440310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269D2-49B3-B58E-518B-9D1F2309AA7E}"/>
              </a:ext>
            </a:extLst>
          </p:cNvPr>
          <p:cNvSpPr>
            <a:spLocks noGrp="1"/>
          </p:cNvSpPr>
          <p:nvPr>
            <p:ph type="ctrTitle"/>
          </p:nvPr>
        </p:nvSpPr>
        <p:spPr>
          <a:xfrm>
            <a:off x="2589213" y="3218213"/>
            <a:ext cx="7089177" cy="1080655"/>
          </a:xfrm>
        </p:spPr>
        <p:txBody>
          <a:bodyPr>
            <a:noAutofit/>
          </a:bodyPr>
          <a:lstStyle/>
          <a:p>
            <a:r>
              <a:rPr lang="en-US" sz="6000" dirty="0">
                <a:latin typeface="Arial" panose="020B0604020202020204" pitchFamily="34" charset="0"/>
                <a:cs typeface="Arial" panose="020B0604020202020204" pitchFamily="34" charset="0"/>
              </a:rPr>
              <a:t>Mitosis and Meiosis</a:t>
            </a:r>
            <a:endParaRPr lang="en-IN"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59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286FB-E114-1FE6-2877-BB419620A02D}"/>
              </a:ext>
            </a:extLst>
          </p:cNvPr>
          <p:cNvSpPr>
            <a:spLocks noGrp="1"/>
          </p:cNvSpPr>
          <p:nvPr>
            <p:ph type="title"/>
          </p:nvPr>
        </p:nvSpPr>
        <p:spPr>
          <a:xfrm>
            <a:off x="2592926" y="624110"/>
            <a:ext cx="2596592" cy="599048"/>
          </a:xfrm>
        </p:spPr>
        <p:txBody>
          <a:bodyPr>
            <a:normAutofit/>
          </a:bodyPr>
          <a:lstStyle/>
          <a:p>
            <a:r>
              <a:rPr lang="en-US" sz="3200" dirty="0">
                <a:latin typeface="Arial" panose="020B0604020202020204" pitchFamily="34" charset="0"/>
                <a:cs typeface="Arial" panose="020B0604020202020204" pitchFamily="34" charset="0"/>
              </a:rPr>
              <a:t>Mitosis</a:t>
            </a:r>
            <a:endParaRPr lang="en-IN" sz="32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B35A39CD-FDC7-DAA7-FBAD-C2E868986EB4}"/>
              </a:ext>
            </a:extLst>
          </p:cNvPr>
          <p:cNvPicPr>
            <a:picLocks noGrp="1" noChangeAspect="1"/>
          </p:cNvPicPr>
          <p:nvPr>
            <p:ph idx="1"/>
          </p:nvPr>
        </p:nvPicPr>
        <p:blipFill>
          <a:blip r:embed="rId2"/>
          <a:stretch>
            <a:fillRect/>
          </a:stretch>
        </p:blipFill>
        <p:spPr>
          <a:xfrm>
            <a:off x="3218213" y="1122068"/>
            <a:ext cx="4393871" cy="5346562"/>
          </a:xfrm>
        </p:spPr>
      </p:pic>
    </p:spTree>
    <p:extLst>
      <p:ext uri="{BB962C8B-B14F-4D97-AF65-F5344CB8AC3E}">
        <p14:creationId xmlns:p14="http://schemas.microsoft.com/office/powerpoint/2010/main" val="2354202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2C8A-9DF4-F69E-D296-697FD839193B}"/>
              </a:ext>
            </a:extLst>
          </p:cNvPr>
          <p:cNvSpPr>
            <a:spLocks noGrp="1"/>
          </p:cNvSpPr>
          <p:nvPr>
            <p:ph type="title"/>
          </p:nvPr>
        </p:nvSpPr>
        <p:spPr>
          <a:xfrm>
            <a:off x="1939783" y="552858"/>
            <a:ext cx="2085953" cy="622799"/>
          </a:xfrm>
        </p:spPr>
        <p:txBody>
          <a:bodyPr>
            <a:normAutofit fontScale="90000"/>
          </a:bodyPr>
          <a:lstStyle/>
          <a:p>
            <a:r>
              <a:rPr lang="en-US" dirty="0">
                <a:latin typeface="Arial" panose="020B0604020202020204" pitchFamily="34" charset="0"/>
                <a:cs typeface="Arial" panose="020B0604020202020204" pitchFamily="34" charset="0"/>
              </a:rPr>
              <a:t>Meiosis</a:t>
            </a:r>
            <a:endParaRPr lang="en-IN"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8345FF4C-50F2-FD84-9BE6-41F51A66B11D}"/>
              </a:ext>
            </a:extLst>
          </p:cNvPr>
          <p:cNvPicPr>
            <a:picLocks noGrp="1" noChangeAspect="1"/>
          </p:cNvPicPr>
          <p:nvPr>
            <p:ph idx="1"/>
          </p:nvPr>
        </p:nvPicPr>
        <p:blipFill>
          <a:blip r:embed="rId2"/>
          <a:stretch>
            <a:fillRect/>
          </a:stretch>
        </p:blipFill>
        <p:spPr>
          <a:xfrm>
            <a:off x="3781616" y="708258"/>
            <a:ext cx="2314384" cy="5953799"/>
          </a:xfrm>
        </p:spPr>
      </p:pic>
    </p:spTree>
    <p:extLst>
      <p:ext uri="{BB962C8B-B14F-4D97-AF65-F5344CB8AC3E}">
        <p14:creationId xmlns:p14="http://schemas.microsoft.com/office/powerpoint/2010/main" val="1654560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A63273-C793-A9B7-7445-56B4BE55D98D}"/>
              </a:ext>
            </a:extLst>
          </p:cNvPr>
          <p:cNvSpPr>
            <a:spLocks noGrp="1"/>
          </p:cNvSpPr>
          <p:nvPr>
            <p:ph idx="1"/>
          </p:nvPr>
        </p:nvSpPr>
        <p:spPr>
          <a:xfrm>
            <a:off x="1567543" y="3525869"/>
            <a:ext cx="10331532" cy="3174670"/>
          </a:xfrm>
        </p:spPr>
        <p:txBody>
          <a:bodyPr/>
          <a:lstStyle/>
          <a:p>
            <a:pPr algn="l"/>
            <a:r>
              <a:rPr lang="en-US" sz="1800" b="0" i="0" u="none" strike="noStrike" baseline="0" dirty="0">
                <a:latin typeface="MinionPro-Regular"/>
              </a:rPr>
              <a:t>The first stage of prophase I is </a:t>
            </a:r>
            <a:r>
              <a:rPr lang="en-US" sz="1800" b="0" i="1" u="none" strike="noStrike" baseline="0" dirty="0">
                <a:latin typeface="MinionPro-It"/>
              </a:rPr>
              <a:t>leptotene </a:t>
            </a:r>
            <a:r>
              <a:rPr lang="en-US" sz="1800" b="0" i="0" u="none" strike="noStrike" baseline="0" dirty="0">
                <a:latin typeface="MinionPro-Regular"/>
              </a:rPr>
              <a:t>, during which the chromosomes </a:t>
            </a:r>
            <a:r>
              <a:rPr lang="en-IN" sz="1800" b="0" i="0" u="none" strike="noStrike" baseline="0" dirty="0">
                <a:latin typeface="MinionPro-Regular"/>
              </a:rPr>
              <a:t>become compacted and visible.</a:t>
            </a:r>
          </a:p>
          <a:p>
            <a:pPr algn="l"/>
            <a:r>
              <a:rPr lang="en-US" sz="1800" b="0" i="0" u="none" strike="noStrike" baseline="0" dirty="0">
                <a:latin typeface="MinionPro-Regular"/>
              </a:rPr>
              <a:t>The second stage of prophase I, which is called </a:t>
            </a:r>
            <a:r>
              <a:rPr lang="en-US" sz="1800" b="0" i="1" u="none" strike="noStrike" baseline="0" dirty="0">
                <a:latin typeface="MinionPro-It"/>
              </a:rPr>
              <a:t>zygotene </a:t>
            </a:r>
            <a:r>
              <a:rPr lang="en-US" sz="1800" b="0" i="0" u="none" strike="noStrike" baseline="0" dirty="0">
                <a:latin typeface="MinionPro-Regular"/>
              </a:rPr>
              <a:t>, is marked by the visible association of homologues with one another. This process of chromosome pairing is called </a:t>
            </a:r>
            <a:r>
              <a:rPr lang="en-US" sz="1800" b="1" i="0" u="none" strike="noStrike" baseline="0" dirty="0">
                <a:latin typeface="AvenirLTStd-Heavy"/>
              </a:rPr>
              <a:t>synapsis </a:t>
            </a:r>
            <a:r>
              <a:rPr lang="en-US" sz="1800" b="0" i="0" u="none" strike="noStrike" baseline="0" dirty="0">
                <a:latin typeface="MinionPro-Regular"/>
              </a:rPr>
              <a:t>and is an </a:t>
            </a:r>
            <a:r>
              <a:rPr lang="en-IN" sz="1800" b="0" i="0" u="none" strike="noStrike" baseline="0" dirty="0">
                <a:latin typeface="MinionPro-Regular"/>
              </a:rPr>
              <a:t>intriguing event.</a:t>
            </a:r>
          </a:p>
          <a:p>
            <a:pPr algn="l"/>
            <a:r>
              <a:rPr lang="en-US" sz="1800" b="0" i="0" u="none" strike="noStrike" baseline="0" dirty="0">
                <a:latin typeface="MinionPro-Regular"/>
              </a:rPr>
              <a:t>The complex formed by a pair of synapsed homologous chromosomes is called a </a:t>
            </a:r>
            <a:r>
              <a:rPr lang="en-US" sz="1800" b="1" i="0" u="none" strike="noStrike" baseline="0" dirty="0">
                <a:latin typeface="AvenirLTStd-Heavy"/>
              </a:rPr>
              <a:t>bivalent </a:t>
            </a:r>
            <a:r>
              <a:rPr lang="en-US" sz="1800" b="0" i="0" u="none" strike="noStrike" baseline="0" dirty="0">
                <a:latin typeface="MinionPro-Regular"/>
              </a:rPr>
              <a:t>or a </a:t>
            </a:r>
            <a:r>
              <a:rPr lang="en-US" sz="1800" b="1" i="0" u="none" strike="noStrike" baseline="0" dirty="0">
                <a:latin typeface="AvenirLTStd-Heavy"/>
              </a:rPr>
              <a:t>tetrad </a:t>
            </a:r>
            <a:r>
              <a:rPr lang="en-US" sz="1800" b="0" i="0" u="none" strike="noStrike" baseline="0" dirty="0">
                <a:latin typeface="MinionPro-Regular"/>
              </a:rPr>
              <a:t>. The former term reflects the fact that the complex contains two homologues, whereas the latter term calls attention to the presence of four chromatids. The end of synapsis marks the end of zygotene and the beginning of the next stage of prophase I, called </a:t>
            </a:r>
            <a:r>
              <a:rPr lang="en-US" sz="1800" b="0" i="1" u="none" strike="noStrike" baseline="0" dirty="0">
                <a:latin typeface="MinionPro-It"/>
              </a:rPr>
              <a:t>pachytene </a:t>
            </a:r>
            <a:r>
              <a:rPr lang="en-US" sz="1800" b="0" i="0" u="none" strike="noStrike" baseline="0" dirty="0">
                <a:latin typeface="MinionPro-Regular"/>
              </a:rPr>
              <a:t>(Figure), which is characterized by a fully formed synaptonemal complex. During pachytene, the homologues are held closely together along their length by the SC. The DNA of sister chromatids is extended into parallel loops</a:t>
            </a:r>
            <a:r>
              <a:rPr lang="en-IN" sz="1800" b="0" i="0" u="none" strike="noStrike" baseline="0" dirty="0">
                <a:latin typeface="MinionPro-Regular"/>
              </a:rPr>
              <a:t>. </a:t>
            </a:r>
            <a:endParaRPr lang="en-US" sz="1800" b="0" i="0" u="none" strike="noStrike" baseline="0" dirty="0">
              <a:latin typeface="MinionPro-Regular"/>
            </a:endParaRPr>
          </a:p>
          <a:p>
            <a:endParaRPr lang="en-IN" dirty="0"/>
          </a:p>
        </p:txBody>
      </p:sp>
      <p:sp>
        <p:nvSpPr>
          <p:cNvPr id="4" name="Title 1">
            <a:extLst>
              <a:ext uri="{FF2B5EF4-FFF2-40B4-BE49-F238E27FC236}">
                <a16:creationId xmlns:a16="http://schemas.microsoft.com/office/drawing/2014/main" id="{9CE7B001-2424-1B57-966A-7EC772B3586D}"/>
              </a:ext>
            </a:extLst>
          </p:cNvPr>
          <p:cNvSpPr txBox="1">
            <a:spLocks/>
          </p:cNvSpPr>
          <p:nvPr/>
        </p:nvSpPr>
        <p:spPr>
          <a:xfrm>
            <a:off x="1939783" y="552858"/>
            <a:ext cx="2085953" cy="622799"/>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Arial" panose="020B0604020202020204" pitchFamily="34" charset="0"/>
                <a:cs typeface="Arial" panose="020B0604020202020204" pitchFamily="34" charset="0"/>
              </a:rPr>
              <a:t>Meiosis</a:t>
            </a: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D2CDE03-155F-EDF6-C5CB-E5F30C15338B}"/>
              </a:ext>
            </a:extLst>
          </p:cNvPr>
          <p:cNvPicPr>
            <a:picLocks noChangeAspect="1"/>
          </p:cNvPicPr>
          <p:nvPr/>
        </p:nvPicPr>
        <p:blipFill>
          <a:blip r:embed="rId2"/>
          <a:stretch>
            <a:fillRect/>
          </a:stretch>
        </p:blipFill>
        <p:spPr>
          <a:xfrm>
            <a:off x="3805311" y="864257"/>
            <a:ext cx="7416871" cy="2442641"/>
          </a:xfrm>
          <a:prstGeom prst="rect">
            <a:avLst/>
          </a:prstGeom>
        </p:spPr>
      </p:pic>
    </p:spTree>
    <p:extLst>
      <p:ext uri="{BB962C8B-B14F-4D97-AF65-F5344CB8AC3E}">
        <p14:creationId xmlns:p14="http://schemas.microsoft.com/office/powerpoint/2010/main" val="36780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9C68C1-5287-D7E6-09FF-D9E8095A9EE4}"/>
              </a:ext>
            </a:extLst>
          </p:cNvPr>
          <p:cNvSpPr>
            <a:spLocks noGrp="1"/>
          </p:cNvSpPr>
          <p:nvPr>
            <p:ph idx="1"/>
          </p:nvPr>
        </p:nvSpPr>
        <p:spPr>
          <a:xfrm>
            <a:off x="1538566" y="3538847"/>
            <a:ext cx="9785268" cy="3158837"/>
          </a:xfrm>
        </p:spPr>
        <p:txBody>
          <a:bodyPr>
            <a:normAutofit/>
          </a:bodyPr>
          <a:lstStyle/>
          <a:p>
            <a:pPr algn="just"/>
            <a:r>
              <a:rPr lang="en-IN" i="1" dirty="0">
                <a:latin typeface="MinionPro-It"/>
              </a:rPr>
              <a:t>D</a:t>
            </a:r>
            <a:r>
              <a:rPr lang="en-IN" sz="1800" b="0" i="1" u="none" strike="noStrike" baseline="0" dirty="0">
                <a:latin typeface="MinionPro-It"/>
              </a:rPr>
              <a:t>iplotene </a:t>
            </a:r>
            <a:r>
              <a:rPr lang="en-US" sz="1800" b="0" i="0" u="none" strike="noStrike" baseline="0" dirty="0">
                <a:solidFill>
                  <a:srgbClr val="000000"/>
                </a:solidFill>
                <a:latin typeface="MinionPro-Regular"/>
              </a:rPr>
              <a:t>is recognized by the dissolution of the SC, which leaves the chromosomes attached to one another at specific points by X‐shaped structures, termed </a:t>
            </a:r>
            <a:r>
              <a:rPr lang="en-US" sz="1800" b="1" i="0" u="none" strike="noStrike" baseline="0" dirty="0">
                <a:solidFill>
                  <a:srgbClr val="000000"/>
                </a:solidFill>
                <a:latin typeface="AvenirLTStd-Heavy"/>
              </a:rPr>
              <a:t>chiasmata </a:t>
            </a:r>
            <a:r>
              <a:rPr lang="en-US" sz="1800" b="0" i="0" u="none" strike="noStrike" baseline="0" dirty="0">
                <a:solidFill>
                  <a:srgbClr val="000000"/>
                </a:solidFill>
                <a:latin typeface="MinionPro-Regular"/>
              </a:rPr>
              <a:t>(singular </a:t>
            </a:r>
            <a:r>
              <a:rPr lang="en-US" sz="1800" b="1" i="0" u="none" strike="noStrike" baseline="0" dirty="0">
                <a:solidFill>
                  <a:srgbClr val="000000"/>
                </a:solidFill>
                <a:latin typeface="AvenirLTStd-Heavy"/>
              </a:rPr>
              <a:t>chiasma </a:t>
            </a:r>
            <a:r>
              <a:rPr lang="en-US" sz="1800" b="0" i="0" u="none" strike="noStrike" baseline="0" dirty="0">
                <a:solidFill>
                  <a:srgbClr val="000000"/>
                </a:solidFill>
                <a:latin typeface="MinionPro-Regular"/>
              </a:rPr>
              <a:t>)</a:t>
            </a:r>
          </a:p>
          <a:p>
            <a:pPr algn="just"/>
            <a:r>
              <a:rPr lang="en-US" sz="1800" b="0" i="0" u="none" strike="noStrike" baseline="0" dirty="0">
                <a:solidFill>
                  <a:srgbClr val="000000"/>
                </a:solidFill>
                <a:latin typeface="MinionPro-Regular"/>
              </a:rPr>
              <a:t>Chiasmata are located at sites on the chromosomes where crossing‐over between DNA molecules from the two chromosomes had previously occurred. Chiasmata are formed by covalent junctions between a chromatid from one homologue and a </a:t>
            </a:r>
            <a:r>
              <a:rPr lang="en-US" sz="1800" b="0" i="0" u="none" strike="noStrike" baseline="0" dirty="0" err="1">
                <a:solidFill>
                  <a:srgbClr val="000000"/>
                </a:solidFill>
                <a:latin typeface="MinionPro-Regular"/>
              </a:rPr>
              <a:t>nonsister</a:t>
            </a:r>
            <a:r>
              <a:rPr lang="en-US" dirty="0">
                <a:solidFill>
                  <a:srgbClr val="000000"/>
                </a:solidFill>
                <a:latin typeface="MinionPro-Regular"/>
              </a:rPr>
              <a:t> </a:t>
            </a:r>
            <a:r>
              <a:rPr lang="en-US" sz="1800" b="0" i="0" u="none" strike="noStrike" baseline="0" dirty="0">
                <a:solidFill>
                  <a:srgbClr val="000000"/>
                </a:solidFill>
                <a:latin typeface="MinionPro-Regular"/>
              </a:rPr>
              <a:t>chromatid from the other homologue. These points of attachment provide a striking visual portrayal of the extent of genetic recombination.</a:t>
            </a:r>
          </a:p>
          <a:p>
            <a:pPr algn="just"/>
            <a:r>
              <a:rPr lang="en-IN" sz="1800" b="0" i="1" u="none" strike="noStrike" baseline="0" dirty="0">
                <a:latin typeface="MinionPro-It"/>
              </a:rPr>
              <a:t>In diakinesis </a:t>
            </a:r>
            <a:r>
              <a:rPr lang="en-IN" sz="1800" b="0" i="0" u="none" strike="noStrike" baseline="0" dirty="0">
                <a:latin typeface="MinionPro-Regular"/>
              </a:rPr>
              <a:t>,</a:t>
            </a:r>
            <a:r>
              <a:rPr lang="en-US" sz="1800" b="0" i="0" u="none" strike="noStrike" baseline="0" dirty="0">
                <a:latin typeface="MinionPro-Regular"/>
              </a:rPr>
              <a:t>the meiotic spindle is assembled and the chromosomes are prepared </a:t>
            </a:r>
            <a:r>
              <a:rPr lang="en-IN" sz="1800" b="0" i="0" u="none" strike="noStrike" baseline="0" dirty="0">
                <a:latin typeface="MinionPro-Regular"/>
              </a:rPr>
              <a:t>for separation </a:t>
            </a:r>
            <a:r>
              <a:rPr lang="en-US" sz="1800" b="0" i="0" u="none" strike="noStrike" baseline="0" dirty="0">
                <a:latin typeface="MinionPro-Regular"/>
              </a:rPr>
              <a:t>Diakinesis ends with the disappearance of the nucleolus, the breakdown of the nuclear envelope, and the movement of the tetrads to the metaphase plate</a:t>
            </a:r>
            <a:endParaRPr lang="en-IN" dirty="0"/>
          </a:p>
        </p:txBody>
      </p:sp>
      <p:sp>
        <p:nvSpPr>
          <p:cNvPr id="4" name="Title 1">
            <a:extLst>
              <a:ext uri="{FF2B5EF4-FFF2-40B4-BE49-F238E27FC236}">
                <a16:creationId xmlns:a16="http://schemas.microsoft.com/office/drawing/2014/main" id="{94D17958-0BA8-87D4-89DC-351F4841B10D}"/>
              </a:ext>
            </a:extLst>
          </p:cNvPr>
          <p:cNvSpPr txBox="1">
            <a:spLocks/>
          </p:cNvSpPr>
          <p:nvPr/>
        </p:nvSpPr>
        <p:spPr>
          <a:xfrm>
            <a:off x="1939783" y="552858"/>
            <a:ext cx="2085953" cy="622799"/>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Arial" panose="020B0604020202020204" pitchFamily="34" charset="0"/>
                <a:cs typeface="Arial" panose="020B0604020202020204" pitchFamily="34" charset="0"/>
              </a:rPr>
              <a:t>Meiosis</a:t>
            </a: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71F88B1-7986-EAE3-9FAE-986A86603B3E}"/>
              </a:ext>
            </a:extLst>
          </p:cNvPr>
          <p:cNvPicPr>
            <a:picLocks noChangeAspect="1"/>
          </p:cNvPicPr>
          <p:nvPr/>
        </p:nvPicPr>
        <p:blipFill>
          <a:blip r:embed="rId2"/>
          <a:stretch>
            <a:fillRect/>
          </a:stretch>
        </p:blipFill>
        <p:spPr>
          <a:xfrm>
            <a:off x="3545496" y="1050705"/>
            <a:ext cx="7461450" cy="2268448"/>
          </a:xfrm>
          <a:prstGeom prst="rect">
            <a:avLst/>
          </a:prstGeom>
        </p:spPr>
      </p:pic>
    </p:spTree>
    <p:extLst>
      <p:ext uri="{BB962C8B-B14F-4D97-AF65-F5344CB8AC3E}">
        <p14:creationId xmlns:p14="http://schemas.microsoft.com/office/powerpoint/2010/main" val="3971729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1104-C7E3-73F1-9232-3357C50030BC}"/>
              </a:ext>
            </a:extLst>
          </p:cNvPr>
          <p:cNvSpPr>
            <a:spLocks noGrp="1"/>
          </p:cNvSpPr>
          <p:nvPr>
            <p:ph type="title"/>
          </p:nvPr>
        </p:nvSpPr>
        <p:spPr>
          <a:xfrm>
            <a:off x="1963991" y="676314"/>
            <a:ext cx="7691106" cy="563422"/>
          </a:xfrm>
        </p:spPr>
        <p:txBody>
          <a:bodyPr>
            <a:normAutofit/>
          </a:bodyPr>
          <a:lstStyle/>
          <a:p>
            <a:r>
              <a:rPr lang="en-US" sz="2800" b="0" i="0" u="none" strike="noStrike" baseline="0" dirty="0">
                <a:solidFill>
                  <a:srgbClr val="004176"/>
                </a:solidFill>
                <a:latin typeface="AvenirLTStd-Light"/>
              </a:rPr>
              <a:t>Meiotic Nondisjunction and Its Consequences</a:t>
            </a:r>
            <a:endParaRPr lang="en-IN" sz="2800" dirty="0"/>
          </a:p>
        </p:txBody>
      </p:sp>
      <p:pic>
        <p:nvPicPr>
          <p:cNvPr id="5" name="Content Placeholder 4">
            <a:extLst>
              <a:ext uri="{FF2B5EF4-FFF2-40B4-BE49-F238E27FC236}">
                <a16:creationId xmlns:a16="http://schemas.microsoft.com/office/drawing/2014/main" id="{687E3217-42DC-A87D-6DC6-D8F9EFE46CD6}"/>
              </a:ext>
            </a:extLst>
          </p:cNvPr>
          <p:cNvPicPr>
            <a:picLocks noGrp="1" noChangeAspect="1"/>
          </p:cNvPicPr>
          <p:nvPr>
            <p:ph idx="1"/>
          </p:nvPr>
        </p:nvPicPr>
        <p:blipFill>
          <a:blip r:embed="rId2"/>
          <a:stretch>
            <a:fillRect/>
          </a:stretch>
        </p:blipFill>
        <p:spPr>
          <a:xfrm>
            <a:off x="1448495" y="1539875"/>
            <a:ext cx="4061656" cy="4770834"/>
          </a:xfrm>
        </p:spPr>
      </p:pic>
      <p:sp>
        <p:nvSpPr>
          <p:cNvPr id="7" name="TextBox 6">
            <a:extLst>
              <a:ext uri="{FF2B5EF4-FFF2-40B4-BE49-F238E27FC236}">
                <a16:creationId xmlns:a16="http://schemas.microsoft.com/office/drawing/2014/main" id="{0685A1BB-98CB-A547-438F-DD56A42DCE46}"/>
              </a:ext>
            </a:extLst>
          </p:cNvPr>
          <p:cNvSpPr txBox="1"/>
          <p:nvPr/>
        </p:nvSpPr>
        <p:spPr>
          <a:xfrm>
            <a:off x="6440385" y="2038598"/>
            <a:ext cx="3903023" cy="3970318"/>
          </a:xfrm>
          <a:prstGeom prst="rect">
            <a:avLst/>
          </a:prstGeom>
          <a:noFill/>
        </p:spPr>
        <p:txBody>
          <a:bodyPr wrap="square">
            <a:spAutoFit/>
          </a:bodyPr>
          <a:lstStyle/>
          <a:p>
            <a:pPr algn="just"/>
            <a:r>
              <a:rPr lang="en-US" sz="1800" b="0" i="0" u="none" strike="noStrike" baseline="0" dirty="0">
                <a:latin typeface="AvenirLTStd-Book"/>
              </a:rPr>
              <a:t>Meiotic nondisjunction occurs when chromosomes fail to separate from each other during meiosis. If the failure to separate occurs during the first meiotic division, which is called </a:t>
            </a:r>
            <a:r>
              <a:rPr lang="en-US" sz="1800" b="0" i="1" u="none" strike="noStrike" baseline="0" dirty="0">
                <a:latin typeface="AvenirLTStd-BookOblique"/>
              </a:rPr>
              <a:t>primary nondisjunction </a:t>
            </a:r>
            <a:r>
              <a:rPr lang="en-US" sz="1800" b="0" i="0" u="none" strike="noStrike" baseline="0" dirty="0">
                <a:latin typeface="AvenirLTStd-Book"/>
              </a:rPr>
              <a:t>, all of the haploid cells have an abnormal number of chromosomes. If nondisjunction occurs during the second meiotic division, which is called </a:t>
            </a:r>
            <a:r>
              <a:rPr lang="en-US" sz="1800" b="0" i="1" u="none" strike="noStrike" baseline="0" dirty="0">
                <a:latin typeface="AvenirLTStd-BookOblique"/>
              </a:rPr>
              <a:t>secondary nondisjunction </a:t>
            </a:r>
            <a:r>
              <a:rPr lang="en-US" sz="1800" b="0" i="0" u="none" strike="noStrike" baseline="0" dirty="0">
                <a:latin typeface="AvenirLTStd-Book"/>
              </a:rPr>
              <a:t>, only two of the four haploid cells are affected. (More complex types of nondisjunction than shown here can also occur.</a:t>
            </a:r>
            <a:endParaRPr lang="en-IN" dirty="0"/>
          </a:p>
        </p:txBody>
      </p:sp>
    </p:spTree>
    <p:extLst>
      <p:ext uri="{BB962C8B-B14F-4D97-AF65-F5344CB8AC3E}">
        <p14:creationId xmlns:p14="http://schemas.microsoft.com/office/powerpoint/2010/main" val="1337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AA601-02C6-183B-6468-D7BBAA866767}"/>
              </a:ext>
            </a:extLst>
          </p:cNvPr>
          <p:cNvSpPr>
            <a:spLocks noGrp="1"/>
          </p:cNvSpPr>
          <p:nvPr>
            <p:ph type="title"/>
          </p:nvPr>
        </p:nvSpPr>
        <p:spPr>
          <a:xfrm>
            <a:off x="2212915" y="647861"/>
            <a:ext cx="3285361" cy="610924"/>
          </a:xfrm>
        </p:spPr>
        <p:txBody>
          <a:bodyPr>
            <a:normAutofit fontScale="90000"/>
          </a:bodyPr>
          <a:lstStyle/>
          <a:p>
            <a:r>
              <a:rPr lang="en-US" sz="3600" b="0" i="0" u="none" strike="noStrike" baseline="0" dirty="0">
                <a:latin typeface="AvenirLTStd-Book"/>
              </a:rPr>
              <a:t>Down syndrome</a:t>
            </a:r>
            <a:endParaRPr lang="en-IN" dirty="0"/>
          </a:p>
        </p:txBody>
      </p:sp>
      <p:pic>
        <p:nvPicPr>
          <p:cNvPr id="5" name="Content Placeholder 4">
            <a:extLst>
              <a:ext uri="{FF2B5EF4-FFF2-40B4-BE49-F238E27FC236}">
                <a16:creationId xmlns:a16="http://schemas.microsoft.com/office/drawing/2014/main" id="{2AFED9F5-F7D1-BA87-6B79-62094FE1748C}"/>
              </a:ext>
            </a:extLst>
          </p:cNvPr>
          <p:cNvPicPr>
            <a:picLocks noGrp="1" noChangeAspect="1"/>
          </p:cNvPicPr>
          <p:nvPr>
            <p:ph idx="1"/>
          </p:nvPr>
        </p:nvPicPr>
        <p:blipFill>
          <a:blip r:embed="rId2"/>
          <a:stretch>
            <a:fillRect/>
          </a:stretch>
        </p:blipFill>
        <p:spPr>
          <a:xfrm>
            <a:off x="1520042" y="1736669"/>
            <a:ext cx="3720900" cy="4530316"/>
          </a:xfrm>
        </p:spPr>
      </p:pic>
      <p:sp>
        <p:nvSpPr>
          <p:cNvPr id="7" name="TextBox 6">
            <a:extLst>
              <a:ext uri="{FF2B5EF4-FFF2-40B4-BE49-F238E27FC236}">
                <a16:creationId xmlns:a16="http://schemas.microsoft.com/office/drawing/2014/main" id="{5B19A611-97A2-3455-FE4F-A278B555EC63}"/>
              </a:ext>
            </a:extLst>
          </p:cNvPr>
          <p:cNvSpPr txBox="1"/>
          <p:nvPr/>
        </p:nvSpPr>
        <p:spPr>
          <a:xfrm>
            <a:off x="5994070" y="2811921"/>
            <a:ext cx="5204361" cy="923330"/>
          </a:xfrm>
          <a:prstGeom prst="rect">
            <a:avLst/>
          </a:prstGeom>
          <a:noFill/>
        </p:spPr>
        <p:txBody>
          <a:bodyPr wrap="square">
            <a:spAutoFit/>
          </a:bodyPr>
          <a:lstStyle/>
          <a:p>
            <a:pPr algn="l"/>
            <a:r>
              <a:rPr lang="en-US" sz="1800" b="0" i="0" u="none" strike="noStrike" baseline="0" dirty="0">
                <a:latin typeface="AvenirLTStd-Book"/>
              </a:rPr>
              <a:t>The karyotype of a person with Down syndrome. The</a:t>
            </a:r>
          </a:p>
          <a:p>
            <a:pPr algn="l"/>
            <a:r>
              <a:rPr lang="en-US" sz="1800" b="0" i="0" u="none" strike="noStrike" baseline="0" dirty="0">
                <a:latin typeface="AvenirLTStd-Book"/>
              </a:rPr>
              <a:t>karyotype shows an extra chromosome 21 (trisomy 21).</a:t>
            </a:r>
            <a:endParaRPr lang="en-IN" dirty="0"/>
          </a:p>
        </p:txBody>
      </p:sp>
    </p:spTree>
    <p:extLst>
      <p:ext uri="{BB962C8B-B14F-4D97-AF65-F5344CB8AC3E}">
        <p14:creationId xmlns:p14="http://schemas.microsoft.com/office/powerpoint/2010/main" val="625529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A83CE-E745-B5DB-6F35-BF8F01F3224F}"/>
              </a:ext>
            </a:extLst>
          </p:cNvPr>
          <p:cNvSpPr>
            <a:spLocks noGrp="1"/>
          </p:cNvSpPr>
          <p:nvPr>
            <p:ph type="title"/>
          </p:nvPr>
        </p:nvSpPr>
        <p:spPr>
          <a:xfrm>
            <a:off x="2592926" y="624110"/>
            <a:ext cx="8249246" cy="848430"/>
          </a:xfrm>
        </p:spPr>
        <p:txBody>
          <a:bodyPr/>
          <a:lstStyle/>
          <a:p>
            <a:r>
              <a:rPr lang="en-US" b="0" i="1" u="none" strike="noStrike" baseline="0" dirty="0">
                <a:latin typeface="AvenirLTStd-LightOblique"/>
              </a:rPr>
              <a:t>Turner syndrome and Klinefelter syndrome </a:t>
            </a:r>
            <a:endParaRPr lang="en-IN" dirty="0"/>
          </a:p>
        </p:txBody>
      </p:sp>
      <p:sp>
        <p:nvSpPr>
          <p:cNvPr id="3" name="Content Placeholder 2">
            <a:extLst>
              <a:ext uri="{FF2B5EF4-FFF2-40B4-BE49-F238E27FC236}">
                <a16:creationId xmlns:a16="http://schemas.microsoft.com/office/drawing/2014/main" id="{05BA2B14-49B7-3E51-EB0D-6ABBA5E4369C}"/>
              </a:ext>
            </a:extLst>
          </p:cNvPr>
          <p:cNvSpPr>
            <a:spLocks noGrp="1"/>
          </p:cNvSpPr>
          <p:nvPr>
            <p:ph idx="1"/>
          </p:nvPr>
        </p:nvSpPr>
        <p:spPr>
          <a:xfrm>
            <a:off x="1673676" y="2049816"/>
            <a:ext cx="9346625" cy="4184074"/>
          </a:xfrm>
        </p:spPr>
        <p:txBody>
          <a:bodyPr>
            <a:noAutofit/>
          </a:bodyPr>
          <a:lstStyle/>
          <a:p>
            <a:pPr algn="just"/>
            <a:r>
              <a:rPr lang="en-IN" sz="2000" b="0" i="0" u="none" strike="noStrike" baseline="0" dirty="0">
                <a:latin typeface="AvenirLTStd-Light"/>
              </a:rPr>
              <a:t>A zygote with only </a:t>
            </a:r>
            <a:r>
              <a:rPr lang="en-US" sz="2000" b="0" i="0" u="none" strike="noStrike" baseline="0" dirty="0">
                <a:latin typeface="AvenirLTStd-Light"/>
              </a:rPr>
              <a:t>one X chromosome and no second sex chromosome (denoted as XO) develops into a female with </a:t>
            </a:r>
            <a:r>
              <a:rPr lang="en-US" sz="2000" b="0" i="1" u="none" strike="noStrike" baseline="0" dirty="0">
                <a:latin typeface="AvenirLTStd-LightOblique"/>
              </a:rPr>
              <a:t>Turner syndrome </a:t>
            </a:r>
            <a:r>
              <a:rPr lang="en-US" sz="2000" b="0" i="0" u="none" strike="noStrike" baseline="0" dirty="0">
                <a:latin typeface="AvenirLTStd-Light"/>
              </a:rPr>
              <a:t>, in which genital development is arrested in the juvenile state, the ovaries fail to develop, and body structure is slightly abnormal. Because a Y chromosome is male determining, persons with at least one Y chromosome develop as males. </a:t>
            </a:r>
          </a:p>
          <a:p>
            <a:pPr algn="just"/>
            <a:r>
              <a:rPr lang="en-US" sz="2000" b="0" i="0" u="none" strike="noStrike" baseline="0" dirty="0">
                <a:latin typeface="AvenirLTStd-Light"/>
              </a:rPr>
              <a:t>A male with an extra X chromosome (XXY) develops </a:t>
            </a:r>
            <a:r>
              <a:rPr lang="en-US" sz="2000" b="0" i="1" u="none" strike="noStrike" baseline="0" dirty="0">
                <a:latin typeface="AvenirLTStd-LightOblique"/>
              </a:rPr>
              <a:t>Klinefelter syndrome </a:t>
            </a:r>
            <a:r>
              <a:rPr lang="en-US" sz="2000" b="0" i="0" u="none" strike="noStrike" baseline="0" dirty="0">
                <a:latin typeface="AvenirLTStd-Light"/>
              </a:rPr>
              <a:t>, which is characterized by mental retardation, underdevelopment of genitalia, and the presence of feminine physical characteristics (such as breast enlargement).</a:t>
            </a:r>
          </a:p>
          <a:p>
            <a:pPr algn="just"/>
            <a:r>
              <a:rPr lang="en-US" sz="2000" b="0" i="0" u="none" strike="noStrike" baseline="0" dirty="0">
                <a:latin typeface="AvenirLTStd-Light"/>
              </a:rPr>
              <a:t>A zygote with an extra Y (XYY) develops into a physically normal male who is likely to be taller than average. Considerable controversy developed surrounding claims that XYY males tend to exhibit more aggressive, antisocial, and criminal behavior than do </a:t>
            </a:r>
            <a:r>
              <a:rPr lang="en-IN" sz="2000" b="0" i="0" u="none" strike="noStrike" baseline="0" dirty="0">
                <a:latin typeface="AvenirLTStd-Light"/>
              </a:rPr>
              <a:t>XY males</a:t>
            </a:r>
            <a:endParaRPr lang="en-IN" sz="2000" dirty="0"/>
          </a:p>
        </p:txBody>
      </p:sp>
    </p:spTree>
    <p:extLst>
      <p:ext uri="{BB962C8B-B14F-4D97-AF65-F5344CB8AC3E}">
        <p14:creationId xmlns:p14="http://schemas.microsoft.com/office/powerpoint/2010/main" val="1300830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2B5F-DCE9-07E8-2AFF-F094F56485A3}"/>
              </a:ext>
            </a:extLst>
          </p:cNvPr>
          <p:cNvSpPr>
            <a:spLocks noGrp="1"/>
          </p:cNvSpPr>
          <p:nvPr>
            <p:ph type="title"/>
          </p:nvPr>
        </p:nvSpPr>
        <p:spPr>
          <a:xfrm>
            <a:off x="1880406" y="590470"/>
            <a:ext cx="6502704" cy="440793"/>
          </a:xfrm>
        </p:spPr>
        <p:txBody>
          <a:bodyPr>
            <a:noAutofit/>
          </a:bodyPr>
          <a:lstStyle/>
          <a:p>
            <a:r>
              <a:rPr lang="en-IN" sz="2800" b="0" i="0" u="none" strike="noStrike" baseline="0" dirty="0">
                <a:latin typeface="Arial" panose="020B0604020202020204" pitchFamily="34" charset="0"/>
                <a:cs typeface="Arial" panose="020B0604020202020204" pitchFamily="34" charset="0"/>
              </a:rPr>
              <a:t>Spermatogenesis and Oogenesis</a:t>
            </a:r>
            <a:endParaRPr lang="en-IN" sz="28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B1C9C473-5F50-CC7C-A9C0-783CACBCF5DE}"/>
              </a:ext>
            </a:extLst>
          </p:cNvPr>
          <p:cNvPicPr>
            <a:picLocks noGrp="1" noChangeAspect="1"/>
          </p:cNvPicPr>
          <p:nvPr>
            <p:ph idx="1"/>
          </p:nvPr>
        </p:nvPicPr>
        <p:blipFill>
          <a:blip r:embed="rId2"/>
          <a:stretch>
            <a:fillRect/>
          </a:stretch>
        </p:blipFill>
        <p:spPr>
          <a:xfrm>
            <a:off x="1904009" y="1465746"/>
            <a:ext cx="4191991" cy="4881584"/>
          </a:xfrm>
        </p:spPr>
      </p:pic>
      <p:pic>
        <p:nvPicPr>
          <p:cNvPr id="7" name="Picture 6">
            <a:extLst>
              <a:ext uri="{FF2B5EF4-FFF2-40B4-BE49-F238E27FC236}">
                <a16:creationId xmlns:a16="http://schemas.microsoft.com/office/drawing/2014/main" id="{51CCB226-4AB0-C46A-3F53-DD95D3E79D1A}"/>
              </a:ext>
            </a:extLst>
          </p:cNvPr>
          <p:cNvPicPr>
            <a:picLocks noChangeAspect="1"/>
          </p:cNvPicPr>
          <p:nvPr/>
        </p:nvPicPr>
        <p:blipFill>
          <a:blip r:embed="rId3"/>
          <a:stretch>
            <a:fillRect/>
          </a:stretch>
        </p:blipFill>
        <p:spPr>
          <a:xfrm>
            <a:off x="6657915" y="1465746"/>
            <a:ext cx="4051322" cy="4801784"/>
          </a:xfrm>
          <a:prstGeom prst="rect">
            <a:avLst/>
          </a:prstGeom>
        </p:spPr>
      </p:pic>
    </p:spTree>
    <p:extLst>
      <p:ext uri="{BB962C8B-B14F-4D97-AF65-F5344CB8AC3E}">
        <p14:creationId xmlns:p14="http://schemas.microsoft.com/office/powerpoint/2010/main" val="847542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77917-A039-F917-CB12-224DF029F3EC}"/>
              </a:ext>
            </a:extLst>
          </p:cNvPr>
          <p:cNvSpPr>
            <a:spLocks noGrp="1"/>
          </p:cNvSpPr>
          <p:nvPr>
            <p:ph type="title"/>
          </p:nvPr>
        </p:nvSpPr>
        <p:spPr>
          <a:xfrm>
            <a:off x="1832906" y="529107"/>
            <a:ext cx="7417974" cy="870170"/>
          </a:xfrm>
        </p:spPr>
        <p:txBody>
          <a:bodyPr/>
          <a:lstStyle/>
          <a:p>
            <a:r>
              <a:rPr lang="en-US" dirty="0"/>
              <a:t>References</a:t>
            </a:r>
            <a:endParaRPr lang="en-IN" dirty="0"/>
          </a:p>
        </p:txBody>
      </p:sp>
      <p:pic>
        <p:nvPicPr>
          <p:cNvPr id="5" name="Content Placeholder 4">
            <a:extLst>
              <a:ext uri="{FF2B5EF4-FFF2-40B4-BE49-F238E27FC236}">
                <a16:creationId xmlns:a16="http://schemas.microsoft.com/office/drawing/2014/main" id="{5B5294CE-648B-7425-036C-78D52237CA88}"/>
              </a:ext>
            </a:extLst>
          </p:cNvPr>
          <p:cNvPicPr>
            <a:picLocks noGrp="1" noChangeAspect="1"/>
          </p:cNvPicPr>
          <p:nvPr>
            <p:ph idx="1"/>
          </p:nvPr>
        </p:nvPicPr>
        <p:blipFill>
          <a:blip r:embed="rId2"/>
          <a:stretch>
            <a:fillRect/>
          </a:stretch>
        </p:blipFill>
        <p:spPr>
          <a:xfrm>
            <a:off x="1959820" y="2196935"/>
            <a:ext cx="8507406" cy="1232065"/>
          </a:xfrm>
        </p:spPr>
      </p:pic>
    </p:spTree>
    <p:extLst>
      <p:ext uri="{BB962C8B-B14F-4D97-AF65-F5344CB8AC3E}">
        <p14:creationId xmlns:p14="http://schemas.microsoft.com/office/powerpoint/2010/main" val="322985727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59</TotalTime>
  <Words>574</Words>
  <Application>Microsoft Office PowerPoint</Application>
  <PresentationFormat>Widescreen</PresentationFormat>
  <Paragraphs>22</Paragraphs>
  <Slides>10</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Arial</vt:lpstr>
      <vt:lpstr>AvenirLTStd-Book</vt:lpstr>
      <vt:lpstr>AvenirLTStd-BookOblique</vt:lpstr>
      <vt:lpstr>AvenirLTStd-Heavy</vt:lpstr>
      <vt:lpstr>AvenirLTStd-Light</vt:lpstr>
      <vt:lpstr>AvenirLTStd-LightOblique</vt:lpstr>
      <vt:lpstr>Century Gothic</vt:lpstr>
      <vt:lpstr>MinionPro-It</vt:lpstr>
      <vt:lpstr>MinionPro-Regular</vt:lpstr>
      <vt:lpstr>Wingdings 3</vt:lpstr>
      <vt:lpstr>Wisp</vt:lpstr>
      <vt:lpstr>Mitosis and Meiosis</vt:lpstr>
      <vt:lpstr>Mitosis</vt:lpstr>
      <vt:lpstr>Meiosis</vt:lpstr>
      <vt:lpstr>PowerPoint Presentation</vt:lpstr>
      <vt:lpstr>PowerPoint Presentation</vt:lpstr>
      <vt:lpstr>Meiotic Nondisjunction and Its Consequences</vt:lpstr>
      <vt:lpstr>Down syndrome</vt:lpstr>
      <vt:lpstr>Turner syndrome and Klinefelter syndrome </vt:lpstr>
      <vt:lpstr>Spermatogenesis and Oogenesis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Kumar HG</dc:creator>
  <cp:lastModifiedBy>Ashok Kumar HG</cp:lastModifiedBy>
  <cp:revision>4</cp:revision>
  <dcterms:created xsi:type="dcterms:W3CDTF">2024-09-23T05:52:56Z</dcterms:created>
  <dcterms:modified xsi:type="dcterms:W3CDTF">2024-09-23T06:52:38Z</dcterms:modified>
</cp:coreProperties>
</file>